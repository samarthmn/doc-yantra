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fill>
          <a:solidFill>
            <a:schemeClr val="lt1"/>
          </a:solidFill>
        </a:fill>
      </a:tcStyle>
    </a:wholeTbl>
    <a:firstRow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1F3A5F"/>
                </a:solidFill>
                <a:latin typeface="Calibri"/>
              </a:rPr>
              <a:t>Cascadia Robotics, Inc.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5A6472"/>
                </a:solidFill>
                <a:latin typeface="Calibri"/>
              </a:rPr>
              <a:t>Company Overview - Fiscal Year 2026</a:t>
            </a:r>
          </a:p>
          <a:p>
            <a:r>
              <a:rPr sz="1800">
                <a:solidFill>
                  <a:srgbClr val="5A6472"/>
                </a:solidFill>
                <a:latin typeface="Calibri"/>
              </a:rPr>
              <a:t>Prepared by Corporate Strategy |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Who we are and what we build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FY2026 performance snapshot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Revenue by business segment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Fulfillment network at a glance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Priorities for the next twelve months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Questions and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Founded 2014 in Portland, Oregon; 640 employees across 6 sites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We design and build warehouse automation robots</a:t>
            </a:r>
          </a:p>
          <a:p>
            <a:pPr lvl="1"/>
            <a:r>
              <a:rPr sz="1600">
                <a:solidFill>
                  <a:srgbClr val="222830"/>
                </a:solidFill>
                <a:latin typeface="Calibri"/>
              </a:rPr>
              <a:t>Line-side tote shuttles (Kestrel series)</a:t>
            </a:r>
          </a:p>
          <a:p>
            <a:pPr lvl="1"/>
            <a:r>
              <a:rPr sz="1600">
                <a:solidFill>
                  <a:srgbClr val="222830"/>
                </a:solidFill>
                <a:latin typeface="Calibri"/>
              </a:rPr>
              <a:t>Autonomous pallet movers (Osprey series)</a:t>
            </a:r>
          </a:p>
          <a:p>
            <a:pPr lvl="1"/>
            <a:r>
              <a:rPr sz="1600">
                <a:solidFill>
                  <a:srgbClr val="222830"/>
                </a:solidFill>
                <a:latin typeface="Calibri"/>
              </a:rPr>
              <a:t>Fleet orchestration software (Skyway platform)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212 customer deployments in North America and Europe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FY2026 revenue of $148.6M, up 22% year over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Revenue by Segment (FY2026)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863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54864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FY2025 ($M)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FY2026 ($M)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Kestrel shuttles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58.1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71.4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48.1%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Osprey pallet movers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43.2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29.1%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Skyway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16.6%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Service and spares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83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121.8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148.6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+22.0%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28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Fulfillment Network at a Glance</a:t>
            </a:r>
          </a:p>
        </p:txBody>
      </p:sp>
      <p:pic>
        <p:nvPicPr>
          <p:cNvPr id="3" name="Picture 2" descr="network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863840" cy="4423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  <a:latin typeface="Calibri"/>
              </a:rPr>
              <a:t>Priorities for FY2027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Scale Skyway platform to 40% software attach on new deployments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Open the Rotterdam integration hub to serve EU customers locally</a:t>
            </a:r>
          </a:p>
          <a:p>
            <a:pPr lvl="1"/>
            <a:r>
              <a:rPr sz="1600">
                <a:solidFill>
                  <a:srgbClr val="222830"/>
                </a:solidFill>
                <a:latin typeface="Calibri"/>
              </a:rPr>
              <a:t>Target: first EU-assembled units shipping by March 2027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Reduce unit cost of the Kestrel K-300 by 11% via redesign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Grow service contract renewals from 81% to 90%</a:t>
            </a:r>
          </a:p>
          <a:p>
            <a:pPr/>
            <a:r>
              <a:rPr sz="2000">
                <a:solidFill>
                  <a:srgbClr val="222830"/>
                </a:solidFill>
                <a:latin typeface="Calibri"/>
              </a:rPr>
              <a:t>Maintain first-pass yield above 97% while adding a third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