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fill>
          <a:solidFill>
            <a:schemeClr val="lt1"/>
          </a:solidFill>
        </a:fill>
      </a:tcStyle>
    </a:wholeTbl>
    <a:firstRow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1F3A5F"/>
                </a:solidFill>
                <a:latin typeface="Calibri"/>
              </a:rPr>
              <a:t>Project Meridian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A6472"/>
                </a:solidFill>
                <a:latin typeface="Calibri"/>
              </a:rPr>
              <a:t>Skyway 4.0 Platform Migration - Monthly Status Report</a:t>
            </a:r>
          </a:p>
          <a:p>
            <a:r>
              <a:rPr sz="1800">
                <a:solidFill>
                  <a:srgbClr val="5A6472"/>
                </a:solidFill>
                <a:latin typeface="Calibri"/>
              </a:rPr>
              <a:t>Reporting period: 1-31 July 2026 | PMO: Dana Okafor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Executive Status: On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Overall status is GREEN; schedule variance is +4 days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Fleet-controller cutover completed for 31 of 46 pilot sites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Data migration dry run finished with 0 blocking defects</a:t>
            </a:r>
          </a:p>
          <a:p>
            <a:pPr lvl="1"/>
            <a:r>
              <a:rPr sz="1600">
                <a:solidFill>
                  <a:srgbClr val="222830"/>
                </a:solidFill>
                <a:latin typeface="Calibri"/>
              </a:rPr>
              <a:t>Two medium defects in telemetry backfill, fixes in review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Risk: certification lab availability in September (mitigation booked with second lab in Denver)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Budget consumed: $3.42M of $5.10M approved (67%)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Key Metrics vs.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74980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509451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Plan (Jul)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Actual (Jul)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Sites cut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Open defects (sev 1-2)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Open defects (sev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Fleet uptime during cutover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99.74%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+0.24 pt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Migration cost per site ($K)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74.0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69.8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-4.2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Trained site 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+16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703320"/>
            <a:ext cx="7863840" cy="38100"/>
          </a:xfrm>
          <a:prstGeom prst="rect">
            <a:avLst/>
          </a:prstGeom>
          <a:solidFill>
            <a:srgbClr val="5A64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1874519" cy="914400"/>
          </a:xfrm>
          <a:prstGeom prst="rect">
            <a:avLst/>
          </a:prstGeom>
          <a:solidFill>
            <a:srgbClr val="2E868C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Platform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886200"/>
            <a:ext cx="1874519" cy="411480"/>
          </a:xfrm>
          <a:prstGeom prst="rect">
            <a:avLst/>
          </a:prstGeom>
          <a:solidFill>
            <a:srgbClr val="EFF2F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0">
                <a:solidFill>
                  <a:srgbClr val="222830"/>
                </a:solidFill>
                <a:latin typeface="Calibri"/>
              </a:rPr>
              <a:t>Jan - Apr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95728"/>
            <a:ext cx="1874519" cy="201168"/>
          </a:xfrm>
          <a:prstGeom prst="rect">
            <a:avLst/>
          </a:prstGeom>
          <a:solidFill>
            <a:srgbClr val="2E868C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33471" y="2651760"/>
            <a:ext cx="1874519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Pilot cutovers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1" y="3886200"/>
            <a:ext cx="1874519" cy="411480"/>
          </a:xfrm>
          <a:prstGeom prst="rect">
            <a:avLst/>
          </a:prstGeom>
          <a:solidFill>
            <a:srgbClr val="EFF2F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0">
                <a:solidFill>
                  <a:srgbClr val="222830"/>
                </a:solidFill>
                <a:latin typeface="Calibri"/>
              </a:rPr>
              <a:t>May - Aug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1" y="2395728"/>
            <a:ext cx="1874519" cy="201168"/>
          </a:xfrm>
          <a:prstGeom prst="rect">
            <a:avLst/>
          </a:prstGeom>
          <a:solidFill>
            <a:srgbClr val="2E868C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2" y="2651760"/>
            <a:ext cx="1874519" cy="914400"/>
          </a:xfrm>
          <a:prstGeom prst="rect">
            <a:avLst/>
          </a:prstGeom>
          <a:solidFill>
            <a:srgbClr val="C88A2B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Fleet rollout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2" y="3886200"/>
            <a:ext cx="1874519" cy="411480"/>
          </a:xfrm>
          <a:prstGeom prst="rect">
            <a:avLst/>
          </a:prstGeom>
          <a:solidFill>
            <a:srgbClr val="EFF2F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0">
                <a:solidFill>
                  <a:srgbClr val="222830"/>
                </a:solidFill>
                <a:latin typeface="Calibri"/>
              </a:rPr>
              <a:t>Sep - Dec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3" y="2651760"/>
            <a:ext cx="1874519" cy="914400"/>
          </a:xfrm>
          <a:prstGeom prst="rect">
            <a:avLst/>
          </a:prstGeom>
          <a:solidFill>
            <a:srgbClr val="5A6472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4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Decommission 3.x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0253" y="3886200"/>
            <a:ext cx="1874519" cy="411480"/>
          </a:xfrm>
          <a:prstGeom prst="rect">
            <a:avLst/>
          </a:prstGeom>
          <a:solidFill>
            <a:srgbClr val="EFF2F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0">
                <a:solidFill>
                  <a:srgbClr val="222830"/>
                </a:solidFill>
                <a:latin typeface="Calibri"/>
              </a:rPr>
              <a:t>Jan - Feb 2027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274320" cy="274320"/>
          </a:xfrm>
          <a:prstGeom prst="rect">
            <a:avLst/>
          </a:prstGeom>
          <a:solidFill>
            <a:srgbClr val="2E86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4846320"/>
            <a:ext cx="2194560" cy="274320"/>
          </a:xfrm>
          <a:prstGeom prst="rect">
            <a:avLst/>
          </a:prstGeom>
          <a:solidFill>
            <a:srgbClr val="EFF2F6"/>
          </a:solidFill>
          <a:ln>
            <a:noFill/>
          </a:ln>
        </p:spPr>
        <p:txBody>
          <a:bodyPr rtlCol="0" anchor="ctr" wrap="square"/>
          <a:lstStyle/>
          <a:p>
            <a:pPr algn="l"/>
            <a:r>
              <a:rPr sz="1000" b="0">
                <a:solidFill>
                  <a:srgbClr val="222830"/>
                </a:solidFill>
                <a:latin typeface="Calibri"/>
              </a:rPr>
              <a:t>complete / in 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846320"/>
            <a:ext cx="274320" cy="274320"/>
          </a:xfrm>
          <a:prstGeom prst="rect">
            <a:avLst/>
          </a:prstGeom>
          <a:solidFill>
            <a:srgbClr val="C88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60" y="4846320"/>
            <a:ext cx="2194560" cy="274320"/>
          </a:xfrm>
          <a:prstGeom prst="rect">
            <a:avLst/>
          </a:prstGeom>
          <a:solidFill>
            <a:srgbClr val="EFF2F6"/>
          </a:solidFill>
          <a:ln>
            <a:noFill/>
          </a:ln>
        </p:spPr>
        <p:txBody>
          <a:bodyPr rtlCol="0" anchor="ctr" wrap="square"/>
          <a:lstStyle/>
          <a:p>
            <a:pPr algn="l"/>
            <a:r>
              <a:rPr sz="1000" b="0">
                <a:solidFill>
                  <a:srgbClr val="222830"/>
                </a:solidFill>
                <a:latin typeface="Calibri"/>
              </a:rPr>
              <a:t>not started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Summary and 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Project remains on schedule and 4% under budget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Pilot exit review scheduled for 21 August 2026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Ask: approve $180K contingency for second certification lab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Ask: confirm freeze window for the September fleet rollout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Next report: 29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/>
        <a:effectStyle/>
        <a:effectStyle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